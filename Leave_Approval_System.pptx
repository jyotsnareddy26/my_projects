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4630400" cy="8229600"/>
  <p:notesSz cx="8229600" cy="14630400"/>
  <p:embeddedFontLst>
    <p:embeddedFont>
      <p:font typeface="Barlow Bold" panose="00000800000000000000" pitchFamily="2" charset="0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91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1023" y="584954"/>
            <a:ext cx="13508355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1023" y="1001554"/>
            <a:ext cx="6810375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Automating Leave Approval System: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1023" y="1769150"/>
            <a:ext cx="13508355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1023" y="2205752"/>
            <a:ext cx="13508355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1023" y="2642354"/>
            <a:ext cx="13508355" cy="51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contributed by designing and developing a user-friendly Leave Approval System that simplifies leave tracking and ensures smooth communication between Students and Mentors.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1023" y="3479483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1023" y="3880009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 Our Team</a:t>
            </a: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1023" y="4280535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23A91A61C7        T.Surya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1023" y="4681061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23A91A6116         G.Lakshmi Durga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1023" y="5081588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23P31A4421        M.V.Phani Sai Teja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1023" y="5482114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23A91A61H5        P.L.M.Neeraja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1023" y="5882640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24P35A4230       S.Sarika Reddy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1023" y="6283166"/>
            <a:ext cx="794861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23P31A4441         S.Jyotsna Sai Surekha</a:t>
            </a:r>
            <a:endParaRPr lang="en-US" sz="12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220" y="3515558"/>
            <a:ext cx="2324695" cy="36591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1023" y="7535228"/>
            <a:ext cx="13508355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1932B5-9EB9-908B-2205-B8D4F598B922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748" y="935950"/>
            <a:ext cx="4944785" cy="63576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2493883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Automating Leave: Our New Approval System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758309" y="3850600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system automates the process of applying and approving student leave requests by the Mentors using Microsoft tools.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58309" y="461974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was developed by our dedicated team.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58309" y="5042178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transforming administrative burdens into streamlined, efficient workflows through our Leave Approval System.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828" y="731758"/>
            <a:ext cx="7698343" cy="108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Challenge: Manual Leave Management Pain Points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22828" y="2051090"/>
            <a:ext cx="7698343" cy="1206818"/>
          </a:xfrm>
          <a:prstGeom prst="roundRect">
            <a:avLst>
              <a:gd name="adj" fmla="val 15402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29283" y="2257544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Slow Approvals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29283" y="2720935"/>
            <a:ext cx="728543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3-5 days for a single leave request cycle.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2828" y="3464362"/>
            <a:ext cx="7698343" cy="1206818"/>
          </a:xfrm>
          <a:prstGeom prst="roundRect">
            <a:avLst>
              <a:gd name="adj" fmla="val 15402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9283" y="3670816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Error Prone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29283" y="4134207"/>
            <a:ext cx="728543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data entry leads to 15-20% error rate in tracking.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2828" y="4877633"/>
            <a:ext cx="7698343" cy="1206818"/>
          </a:xfrm>
          <a:prstGeom prst="roundRect">
            <a:avLst>
              <a:gd name="adj" fmla="val 15402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9283" y="5084088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Lack of Visibility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29283" y="5547479"/>
            <a:ext cx="728543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Mentor spends 10+ hours/week on status inquiries.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2828" y="6290905"/>
            <a:ext cx="7698343" cy="1206818"/>
          </a:xfrm>
          <a:prstGeom prst="roundRect">
            <a:avLst>
              <a:gd name="adj" fmla="val 15402"/>
            </a:avLst>
          </a:prstGeom>
          <a:solidFill>
            <a:srgbClr val="EEEFF5"/>
          </a:solidFill>
          <a:ln/>
          <a:effectLst>
            <a:outerShdw blurRad="50800" dist="2540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29283" y="6497360"/>
            <a:ext cx="2717363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Compliance Risks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29283" y="6960751"/>
            <a:ext cx="728543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Inconsistent application of leave policies makes audit trails difficult.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281946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Solution: The Automated Leave Approval System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44709" y="266580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397" y="2695754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48726" y="274022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948726" y="3226356"/>
            <a:ext cx="692336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Leave Approval System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to streamline and simplify the process of requesting, approving, and tracking leaves that are submitted by the Students via Forms 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244709" y="4699754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397" y="4729698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8726" y="47741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Scope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948726" y="526030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Covers all types of leaves like, sick, vacation and other leaves.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244709" y="6040279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/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7397" y="6070223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8726" y="611469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Outcome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948726" y="660082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efficiency, accuracy, and transparency for all Mentors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EC3EB-B312-0694-3593-36C8E084DCF7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28662"/>
            <a:ext cx="799754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Overall Flowchart of the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87463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flowchart represents the complete end-to-end process flow of the Leave Approval System.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022" y="2465070"/>
            <a:ext cx="3998238" cy="44453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71541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56A51-44B7-C650-640F-BE930FB9E379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36" y="553283"/>
            <a:ext cx="10569535" cy="52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Stack: SharePoint, Excel, &amp; Power Automate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36" y="1535430"/>
            <a:ext cx="4079677" cy="4079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136" y="5841444"/>
            <a:ext cx="264735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SharePoint Online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04136" y="6373535"/>
            <a:ext cx="407967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Centralized portal for forms and data storage.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04136" y="7198400"/>
            <a:ext cx="407967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SharePoint Lists for robust record-keeping.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502" y="1535430"/>
            <a:ext cx="3565088" cy="37241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82208" y="5485924"/>
            <a:ext cx="264735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Automate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5282208" y="6018014"/>
            <a:ext cx="407967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Powers the workflow engine for requests.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282208" y="6842879"/>
            <a:ext cx="407967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approvals and automated notifications.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0280" y="1535430"/>
            <a:ext cx="4079677" cy="40796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60280" y="5841444"/>
            <a:ext cx="264735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Excel Online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9860280" y="6373535"/>
            <a:ext cx="4079677" cy="321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 dynamic reporting dashboards.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860280" y="6876455"/>
            <a:ext cx="4079677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Supports bulk data uploads within SharePoint.</a:t>
            </a:r>
            <a:endParaRPr lang="en-US" sz="1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AD3DE7-B7E8-CE7D-DEEE-E81698CE5BE6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902EE-600F-7A7F-BCF8-93BDD9A35D8F}"/>
              </a:ext>
            </a:extLst>
          </p:cNvPr>
          <p:cNvSpPr txBox="1"/>
          <p:nvPr/>
        </p:nvSpPr>
        <p:spPr>
          <a:xfrm>
            <a:off x="925551" y="866263"/>
            <a:ext cx="7225992" cy="1208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3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SharePoint  Form In Leave Approval System</a:t>
            </a:r>
            <a:endParaRPr lang="en-US" sz="3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37659-077A-EEF5-B4D8-A775B5E2C316}"/>
              </a:ext>
            </a:extLst>
          </p:cNvPr>
          <p:cNvSpPr txBox="1"/>
          <p:nvPr/>
        </p:nvSpPr>
        <p:spPr>
          <a:xfrm>
            <a:off x="880947" y="259867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SharePoint Form is used as the front-end interface for students or employees to submit their leave requests.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669BA-9407-A1C0-2AAB-B262A574F0D3}"/>
              </a:ext>
            </a:extLst>
          </p:cNvPr>
          <p:cNvSpPr txBox="1"/>
          <p:nvPr/>
        </p:nvSpPr>
        <p:spPr>
          <a:xfrm>
            <a:off x="925551" y="3775164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Benefits: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paperwork and manual tracking.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consistent leave request entries.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centralized leave data management.</a:t>
            </a:r>
          </a:p>
        </p:txBody>
      </p:sp>
      <p:pic>
        <p:nvPicPr>
          <p:cNvPr id="9" name="Picture 8" descr="A form with a green background&#10;&#10;AI-generated content may be incorrect.">
            <a:extLst>
              <a:ext uri="{FF2B5EF4-FFF2-40B4-BE49-F238E27FC236}">
                <a16:creationId xmlns:a16="http://schemas.microsoft.com/office/drawing/2014/main" id="{64FF87B0-9F26-9269-E64C-866C6DB7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127" y="0"/>
            <a:ext cx="4817326" cy="496527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3576B7-0556-110C-3B82-E321D55BC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2127" y="4965277"/>
            <a:ext cx="4817326" cy="47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0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903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8543" y="4476631"/>
            <a:ext cx="8384024" cy="54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SharePoint Form Creation – Data Collection 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728543" y="5258633"/>
            <a:ext cx="131733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🔹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 designed a custom SharePoint Form as the first step in the Leave Approval process. 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8543" y="5833348"/>
            <a:ext cx="13173313" cy="673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🔹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This form collects leave requests from students and captures the following fields  Name,Roll Number,Start Date of Leave,End Date of Leave,etc.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8543" y="6740962"/>
            <a:ext cx="131733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🔹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Once the form is submitted, all the data is automatically stored in a SharePoint List for further processing.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8543" y="7315676"/>
            <a:ext cx="1317331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</a:t>
            </a:r>
            <a:r>
              <a:rPr lang="en-US" sz="16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This setup ensures centralized, organized, and easily accessible records of student leave requests.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C739-194E-420F-5010-8C3881B25EA9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847" y="400764"/>
            <a:ext cx="4512588" cy="27480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9468" y="3312557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9468" y="3763804"/>
            <a:ext cx="669762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Automate – Automated Approval Workflow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9468" y="4365188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📥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 Point: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9468" y="4761786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 is automatically triggered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when a student submits the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Leave Approval Form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SharePoint.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9468" y="5158383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📤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to Mentor: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9468" y="5554980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Automate captures the form data (Name, Roll No, Dates, Reason)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9468" y="5838706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then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generates a formatted approval email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sends it to the respective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mentor for decision-making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9468" y="6235303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✅❌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 Response Handling: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9468" y="6631900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the mentor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approves or rejects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Power Automate: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9468" y="6915626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Updates the SharePoint List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the decision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9468" y="7199352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Sends an automatic email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the student with their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leave status (Approved/Rejected)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9468" y="7595949"/>
            <a:ext cx="13611463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This eliminates manual follow-ups and ensures a </a:t>
            </a:r>
            <a:r>
              <a:rPr lang="en-US" sz="11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smooth, fast, and transparent approval process</a:t>
            </a:r>
            <a:r>
              <a:rPr lang="en-US" sz="11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AB7F0-65C8-FC30-BE4D-B8E1B88C39FB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1141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166" y="207526"/>
            <a:ext cx="8546068" cy="26991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263" y="3572470"/>
            <a:ext cx="4935974" cy="437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Excel Integration for Leave Data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581263" y="4196358"/>
            <a:ext cx="13467874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Objective: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automate the collection and analysis of student leave requests submitted via SharePoint Forms using Excel.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81263" y="491466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Excel, go to </a:t>
            </a:r>
            <a:r>
              <a:rPr lang="en-US" sz="1300" dirty="0">
                <a:solidFill>
                  <a:srgbClr val="272525"/>
                </a:solidFill>
                <a:highlight>
                  <a:srgbClr val="D2CFF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tab → Select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Data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Choose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Online Services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→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SharePoint Online List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81263" y="523851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your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 site URL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select the required list.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1263" y="556236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the list is selected, it opens in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Query Editor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1263" y="588621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all the columns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the SharePoint list.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1263" y="621006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Power Query to: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81263" y="653391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unwanted columns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(like system metadata)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1263" y="685776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by leave status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(e.g., Approved only)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1263" y="718161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 filtering, click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&amp; Load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insert the cleaned data into your Excel sheet.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81263" y="7505462"/>
            <a:ext cx="1346787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data can now be used for </a:t>
            </a:r>
            <a:r>
              <a:rPr lang="en-US" sz="13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dashboards, pivot tables, and charts</a:t>
            </a: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2EE13C-08BA-E912-5E01-5044ED9A63C2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4203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53735"/>
            <a:ext cx="9144000" cy="2712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8413" y="3921919"/>
            <a:ext cx="8145899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Creating Pivot Tables in Excel from Filtered Data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38413" y="4584383"/>
            <a:ext cx="1335357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to </a:t>
            </a:r>
            <a:r>
              <a:rPr lang="en-US" sz="1400" dirty="0">
                <a:solidFill>
                  <a:srgbClr val="272525"/>
                </a:solidFill>
                <a:highlight>
                  <a:srgbClr val="D2CFF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tab → Click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Pivot Table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38413" y="4947642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your data range → Choose whether to insert in a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worksheet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or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one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38413" y="5303282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Drag and drop fields into: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38413" y="5658922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Rows: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(e.g., Student Name or Month)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8413" y="6014561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Columns: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(e.g., Leave Status: Approved/Rejected)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8413" y="6370201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Values: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(e.g., Count of Leaves)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8413" y="6725841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Filters: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(e.g., Filter by Department or Date)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8413" y="7081480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Filters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Slicers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 Formatting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8413" y="7437120"/>
            <a:ext cx="13353574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Visualize leave trends, total leaves per student, or monthly leave reports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4A1D92-CFED-42D2-9877-B783D6473B46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4232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455" y="228124"/>
            <a:ext cx="8497372" cy="2967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9008" y="3925967"/>
            <a:ext cx="8865037" cy="480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Building an Interactive Dashboard using Pivot Tables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39008" y="4588907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 Pivot Tables into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Pivot Charts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better visualization.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39008" y="4944666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Bar, Line, Pie, or Column charts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make data insights more engaging.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39008" y="5300424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Slicers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filter data by: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39008" y="5656183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Mentor's Names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9008" y="6011942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39008" y="6367701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9008" y="6723459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</a:t>
            </a:r>
            <a:r>
              <a:rPr lang="en-US" sz="14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Calender</a:t>
            </a: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view leave records by date or month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9008" y="7079218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consistent colors, fonts, and spacing.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9008" y="7434977"/>
            <a:ext cx="1335238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titles, legends, and data labels to make it clear and professional.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A8292-3D7C-1836-7AC6-8244E6F187E8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7326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Benefits &amp; Impact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519243"/>
            <a:ext cx="3075384" cy="1900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6365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Rapid Approvals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122664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 significantly reduced average approval times, streamlining operations.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442" y="2519243"/>
            <a:ext cx="3075384" cy="1900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04442" y="46365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 Achieved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04442" y="5122664"/>
            <a:ext cx="307538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data entry mistakes are virtually eliminated, ensuring high accuracy and data integrity.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574" y="2519243"/>
            <a:ext cx="3075384" cy="19007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0574" y="46365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Focus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0574" y="5122664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HODs and HR save valuable time previously spent on manual tasks, redirecting efforts to key strategic initiatives.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6707" y="2519243"/>
            <a:ext cx="3075384" cy="19007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96707" y="4636532"/>
            <a:ext cx="2855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Enhanced Satisfaction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96707" y="5122664"/>
            <a:ext cx="307538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projected increase in NPS reflects improved employee satisfaction and engagement with the system.</a:t>
            </a:r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1B653A-9CE3-83EB-2497-765C2D2A4EC0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6312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58309" y="275355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381018" y="3425190"/>
            <a:ext cx="7868245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4444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Any Queries?</a:t>
            </a:r>
            <a:endParaRPr lang="en-US" sz="6150" dirty="0"/>
          </a:p>
        </p:txBody>
      </p:sp>
      <p:sp>
        <p:nvSpPr>
          <p:cNvPr id="5" name="Text 3"/>
          <p:cNvSpPr/>
          <p:nvPr/>
        </p:nvSpPr>
        <p:spPr>
          <a:xfrm>
            <a:off x="758309" y="473368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32411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91454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53B62-5933-51B9-8179-F68CFB08837E}"/>
              </a:ext>
            </a:extLst>
          </p:cNvPr>
          <p:cNvSpPr/>
          <p:nvPr/>
        </p:nvSpPr>
        <p:spPr>
          <a:xfrm>
            <a:off x="11592101" y="7455933"/>
            <a:ext cx="2932771" cy="671274"/>
          </a:xfrm>
          <a:prstGeom prst="rect">
            <a:avLst/>
          </a:prstGeom>
          <a:solidFill>
            <a:srgbClr val="EE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272671"/>
            <a:ext cx="3420904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58309" y="3916799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sincerely thank you for taking the time to understand our project on 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Leave Approval System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</a:t>
            </a:r>
            <a:r>
              <a:rPr lang="en-US" sz="1700" b="1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</a:t>
            </a:r>
            <a:r>
              <a:rPr lang="en-US" sz="170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Power Automate, and Excel.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1018</Words>
  <Application>Microsoft Office PowerPoint</Application>
  <PresentationFormat>Custom</PresentationFormat>
  <Paragraphs>122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Montserrat</vt:lpstr>
      <vt:lpstr>Arial</vt:lpstr>
      <vt:lpstr>Consolas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23A91A61C7</cp:lastModifiedBy>
  <cp:revision>3</cp:revision>
  <dcterms:created xsi:type="dcterms:W3CDTF">2025-06-28T07:00:44Z</dcterms:created>
  <dcterms:modified xsi:type="dcterms:W3CDTF">2025-06-28T10:34:30Z</dcterms:modified>
</cp:coreProperties>
</file>